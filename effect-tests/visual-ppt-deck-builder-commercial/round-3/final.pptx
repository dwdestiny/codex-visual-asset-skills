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749808"/>
            <a:ext cx="658368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6172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编程工具企业落地方案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852928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从个人试用走向组织级接入、治理、度量与扩面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69480" y="822960"/>
            <a:ext cx="3703320" cy="489204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1F8A7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62672" y="1234440"/>
            <a:ext cx="384048" cy="38404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33502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247888" y="13075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确定主题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62672" y="1993392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20939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247888" y="20665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选择风格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62672" y="2752344"/>
            <a:ext cx="384048" cy="384048"/>
          </a:xfrm>
          <a:prstGeom prst="ellipse">
            <a:avLst/>
          </a:prstGeom>
          <a:solidFill>
            <a:srgbClr val="1F8A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28529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247888" y="28254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生成素材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62672" y="3511296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36118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247888" y="3584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交付文件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45552" y="1627632"/>
            <a:ext cx="0" cy="2212848"/>
          </a:xfrm>
          <a:prstGeom prst="line">
            <a:avLst/>
          </a:prstGeom>
          <a:noFill/>
          <a:ln w="12700">
            <a:solidFill>
              <a:srgbClr val="1F8A70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4709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天商业化落地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一页结论：先治理，再扩面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133856"/>
            <a:ext cx="9509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先用治理换规模，再用数据谈预算。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3246120" cy="329184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1F8A70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396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先选场景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优先测试生成、代码解释、低风险重构。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53128" y="1874520"/>
            <a:ext cx="3246120" cy="329184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76F51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396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257860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接入流程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364992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把工具嵌入需求、代码、评审和知识库。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874520"/>
            <a:ext cx="3246120" cy="329184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1F8A7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1396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257860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度量收益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364992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用采纳率、周期、返工和满意度判断扩面。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944" y="6382512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DORA 2024；Copilot 企业文档；McKinsey 研究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2/8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当前痛点：个人试用难变组织收益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170432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个人效率不会自动变成组织收益。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4944" y="1865376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企业常见问题不是没人试用，而是试用分散、边界模糊、收益无法进入预算语言。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47548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入口分散：IDE、网页、聊天和代码平台各自运行。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知识断层：规范、历史决策和业务上下文没有稳定输入。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收益难算：节省时间、返工下降和评审质量口径不一。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风险后置：敏感代码、生成责任和审计链路缺少前置设计。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353312"/>
            <a:ext cx="4480560" cy="41605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1F8A70">
                <a:alpha val="4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6382512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DORA 2024；McKinsey 生成式 AI 研发生产力研究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3/8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组织级接入架构：工具能力进流程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133856"/>
            <a:ext cx="9509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编程能力要接入研发系统，而不是只发插件。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9966960" cy="658368"/>
          </a:xfrm>
          <a:prstGeom prst="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1F8A7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入口层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01568" y="197510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IDE、代码平台、需求系统、知识库和聊天入口统一接入。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761488"/>
            <a:ext cx="9966960" cy="658368"/>
          </a:xfrm>
          <a:prstGeom prst="rect">
            <a:avLst/>
          </a:prstGeom>
          <a:solidFill>
            <a:srgbClr val="F5F6F3"/>
          </a:solidFill>
          <a:ln w="12700">
            <a:solidFill>
              <a:srgbClr val="E76F51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926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能力层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01568" y="290779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代码补全、测试生成、代码解释、文档生成和评审辅助按场景开放。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694176"/>
            <a:ext cx="9966960" cy="658368"/>
          </a:xfrm>
          <a:prstGeom prst="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1F8A70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858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治理层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01568" y="384048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账号授权、模型范围、内容排除、敏感仓库策略和日志审计统一管理。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4626864"/>
            <a:ext cx="9966960" cy="658368"/>
          </a:xfrm>
          <a:prstGeom prst="rect">
            <a:avLst/>
          </a:prstGeom>
          <a:solidFill>
            <a:srgbClr val="F5F6F3"/>
          </a:solidFill>
          <a:ln w="12700">
            <a:solidFill>
              <a:srgbClr val="E76F51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4791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度量层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01568" y="477316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采纳率、周期变化、缺陷返工、评审吞吐和知识复用进入看板。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4944" y="6382512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企业文档；研发平台治理经验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4/8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价值测算：用保守模型证明可回收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115568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第一阶段验证 5%-8% 净效率改善更可信。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6384" y="2148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5%-8%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6384" y="27432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净效率目标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6384" y="31272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只统计进入交付链路的有效节省。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75304" y="2148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75304" y="27432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采纳门槛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75304" y="31272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连续用于真实任务，才计入组织采纳。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64224" y="2148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类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64224" y="27432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优先场景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64224" y="31272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测试生成、代码解释、低风险重构。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53144" y="2148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天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53144" y="27432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判断周期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53144" y="31272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三个月形成扩面预算依据。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0120" y="4297680"/>
            <a:ext cx="1051560" cy="960120"/>
          </a:xfrm>
          <a:prstGeom prst="rect">
            <a:avLst/>
          </a:prstGeom>
          <a:solidFill>
            <a:srgbClr val="1F8A70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5394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测试生成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80360" y="4417695"/>
            <a:ext cx="1051560" cy="840105"/>
          </a:xfrm>
          <a:prstGeom prst="rect">
            <a:avLst/>
          </a:prstGeom>
          <a:solidFill>
            <a:srgbClr val="E76F51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5768" y="5394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代码解释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00600" y="4537710"/>
            <a:ext cx="1051560" cy="720090"/>
          </a:xfrm>
          <a:prstGeom prst="rect">
            <a:avLst/>
          </a:prstGeom>
          <a:solidFill>
            <a:srgbClr val="1F8A70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5394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文档补齐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20840" y="4657725"/>
            <a:ext cx="1051560" cy="600075"/>
          </a:xfrm>
          <a:prstGeom prst="rect">
            <a:avLst/>
          </a:prstGeom>
          <a:solidFill>
            <a:srgbClr val="E76F51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5394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低风险重构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4944" y="6382512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内部测算模型；McKinsey 公开研究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5/8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工具路线对比：先买治理能力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133856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企业优先买治理能力，再看单点体验。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139440" cy="4160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1F8A7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83664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个人插件路线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542032"/>
            <a:ext cx="2737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启动最快，适合探索；但账号、数据边界和采纳统计较难沉淀。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5008" y="1600200"/>
            <a:ext cx="3139440" cy="4160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76F51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6176" y="1883664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企业套件路线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56176" y="2542032"/>
            <a:ext cx="2737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适合 90 天试点；重点看策略管理、内容排除、使用指标和平台集成。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7056" y="1600200"/>
            <a:ext cx="3139440" cy="4160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1F8A70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8224" y="1883664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自建平台路线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88224" y="2542032"/>
            <a:ext cx="2737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适合强合规或多模型治理；投入更高，需要平台团队长期维护。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" y="6382512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企业文档；公开产品能力观察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天落地路线：从试点到扩面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133856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天足够形成扩面或收缩决策。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86384" y="1965960"/>
            <a:ext cx="2331720" cy="338328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F8A7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 1-2 周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9264" y="2615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定场景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3273552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 2-3 个低敏高频场景，明确仓库、权限、指标和禁用动作。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575304" y="1965960"/>
            <a:ext cx="2331720" cy="338328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E76F51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 3-6 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58184" y="2615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跑任务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58184" y="3273552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进入真实需求、缺陷和评审任务，收集采纳、周期和质量变化。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364224" y="1965960"/>
            <a:ext cx="2331720" cy="338328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F8A70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 7-10 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47104" y="2615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补治理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47104" y="3273552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固化提示规范、内容排除、审计流程、知识库输入和评审边界。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153144" y="1965960"/>
            <a:ext cx="2331720" cy="338328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E76F51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6024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 11-13 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36024" y="2615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做复盘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36024" y="3273552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形成收益、风险、预算和推广方案，决定是否部门级扩面。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94944" y="6382512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企业试点方法；DORA 2024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 w="12700">
            <a:solidFill>
              <a:srgbClr val="F5F6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风险与下一步：把失控点前置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133856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最大风险是边界没设计，而不是模型不够强。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主要风险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下一步动作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3891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敏感代码或客户数据进入不合适的工具入口。</a:t>
            </a:r>
            <a:endParaRPr lang="en-US" sz="1200" dirty="0"/>
          </a:p>
          <a:p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生成代码责任不清，评审和测试被弱化。</a:t>
            </a:r>
            <a:endParaRPr lang="en-US" sz="1200" dirty="0"/>
          </a:p>
          <a:p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采购只看账号数，不看真实采纳率和业务指标。</a:t>
            </a:r>
            <a:endParaRPr lang="en-US" sz="1200" dirty="0"/>
          </a:p>
          <a:p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提示规范、知识库和工程标准没有同步沉淀。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3891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本周确定试点团队、仓库范围和三类优先场景。</a:t>
            </a:r>
            <a:endParaRPr lang="en-US" sz="1200" dirty="0"/>
          </a:p>
          <a:p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两周内完成企业策略、内容排除和审计口径配置。</a:t>
            </a:r>
            <a:endParaRPr lang="en-US" sz="1200" dirty="0"/>
          </a:p>
          <a:p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第一个月建立采纳率、周期、返工和满意度看板。</a:t>
            </a:r>
            <a:endParaRPr lang="en-US" sz="1200" dirty="0"/>
          </a:p>
          <a:p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 90 天输出扩面决策：继续、收缩或转自建治理平台。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42432" y="1828800"/>
            <a:ext cx="0" cy="3566160"/>
          </a:xfrm>
          <a:prstGeom prst="line">
            <a:avLst/>
          </a:prstGeom>
          <a:noFill/>
          <a:ln w="12700">
            <a:solidFill>
              <a:srgbClr val="1F8A70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6382512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企业文档；企业安全治理要求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编程工具企业落地方案</dc:title>
  <dc:subject>面向 CTO、研发负责人、业务负责人的 90 天商业化方案</dc:subject>
  <dc:creator>Codex 效果测试执行智能体</dc:creator>
  <cp:lastModifiedBy>Codex 效果测试执行智能体</cp:lastModifiedBy>
  <cp:revision>1</cp:revision>
  <dcterms:created xsi:type="dcterms:W3CDTF">2026-05-06T14:55:33Z</dcterms:created>
  <dcterms:modified xsi:type="dcterms:W3CDTF">2026-05-06T14:55:33Z</dcterms:modified>
</cp:coreProperties>
</file>